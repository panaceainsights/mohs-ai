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0A14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45720"/>
          </a:xfrm>
          <a:prstGeom prst="rect">
            <a:avLst/>
          </a:prstGeom>
          <a:solidFill>
            <a:srgbClr val="3FC1CB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6492240"/>
            <a:ext cx="11430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E8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MOHS AI · ASD 2026 · mohs.panacea-i.com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1521440" y="64922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endParaRPr lang="en-US" sz="9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1418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0292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400" kern="0" dirty="0">
                <a:solidFill>
                  <a:srgbClr val="3FC1C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MOHS  AI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40080" y="1463040"/>
            <a:ext cx="1097280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4800" b="1" dirty="0">
                <a:solidFill>
                  <a:srgbClr val="F4F8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Predicting which Mohs cases</a:t>
            </a:r>
            <a:endParaRPr lang="en-US" sz="48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4800" b="1" dirty="0">
                <a:solidFill>
                  <a:srgbClr val="F4F8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will need </a:t>
            </a:r>
            <a:endParaRPr lang="en-US" sz="48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4800" b="1" dirty="0">
                <a:solidFill>
                  <a:srgbClr val="3FC1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≥13 sections</a:t>
            </a:r>
            <a:pPr indent="0" marL="0">
              <a:spcAft>
                <a:spcPts val="400"/>
              </a:spcAft>
              <a:buNone/>
            </a:pPr>
            <a:r>
              <a:rPr lang="en-US" sz="4800" b="1" dirty="0">
                <a:solidFill>
                  <a:srgbClr val="F4F8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</a:t>
            </a:r>
            <a:pPr indent="0" marL="0">
              <a:spcAft>
                <a:spcPts val="400"/>
              </a:spcAft>
              <a:buNone/>
            </a:pPr>
            <a:endParaRPr lang="en-US" sz="48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4800" b="1" dirty="0">
                <a:solidFill>
                  <a:srgbClr val="7E8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the patient sits down.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640080" y="51206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4F8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Yagiz Alp Aksoy</a:t>
            </a:r>
            <a:pPr indent="0" marL="0">
              <a:buNone/>
            </a:pPr>
            <a:r>
              <a:rPr lang="en-US" sz="1600" dirty="0">
                <a:solidFill>
                  <a:srgbClr val="7E8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Simon Lee · Gilberto Moreno-Bonilla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55321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E8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Australasian Society for Dermatology · 2026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58978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0A95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mohs.panacea-i.com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686800" y="155448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3200" b="1" dirty="0">
                <a:solidFill>
                  <a:srgbClr val="3FC1C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408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8686800" y="20574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spc="200" kern="0" dirty="0">
                <a:solidFill>
                  <a:srgbClr val="7E8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procedures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8686800" y="251460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3200" b="1" dirty="0">
                <a:solidFill>
                  <a:srgbClr val="3FC1C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0.891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8686800" y="30175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spc="200" kern="0" dirty="0">
                <a:solidFill>
                  <a:srgbClr val="7E8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CV-AUC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8686800" y="347472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3200" b="1" dirty="0">
                <a:solidFill>
                  <a:srgbClr val="3FC1C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91.4%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8686800" y="39776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spc="200" kern="0" dirty="0">
                <a:solidFill>
                  <a:srgbClr val="7E8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high-conf accuracy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8686800" y="443484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3200" b="1" dirty="0">
                <a:solidFill>
                  <a:srgbClr val="3FC1C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1.5 cm²</a:t>
            </a:r>
            <a:endParaRPr lang="en-US" sz="3200" dirty="0"/>
          </a:p>
        </p:txBody>
      </p:sp>
      <p:sp>
        <p:nvSpPr>
          <p:cNvPr id="15" name="Text 13"/>
          <p:cNvSpPr/>
          <p:nvPr/>
        </p:nvSpPr>
        <p:spPr>
          <a:xfrm>
            <a:off x="8686800" y="49377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spc="200" kern="0" dirty="0">
                <a:solidFill>
                  <a:srgbClr val="7E8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 threshold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645920" cy="292608"/>
          </a:xfrm>
          <a:prstGeom prst="rect">
            <a:avLst>
              <a:gd name="adj" fmla="val 12500"/>
            </a:avLst>
          </a:prstGeom>
          <a:solidFill>
            <a:srgbClr val="162028"/>
          </a:solidFill>
          <a:ln w="9525">
            <a:solidFill>
              <a:srgbClr val="3FC1CB"/>
            </a:solidFill>
          </a:ln>
        </p:spPr>
        <p:txBody>
          <a:bodyPr wrap="square" lIns="1016" tIns="1016" rIns="1016" bIns="1016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FC1C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THE QUESTION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" y="100584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4F8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count varies wildly — and we can't currently predict it.</a:t>
            </a:r>
            <a:endParaRPr lang="en-US" sz="3200" dirty="0"/>
          </a:p>
        </p:txBody>
      </p:sp>
      <p:pic>
        <p:nvPicPr>
          <p:cNvPr id="4" name="Image 0" descr="C:\Users\aksoy\My Drive\Projects\Entrepreneurship\PanaceAI\PC - Showroom\Apps\MOHS-AI\mohs-ai\slides\figures\section_distribu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2194560"/>
            <a:ext cx="7315200" cy="36576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8229600" y="2194560"/>
            <a:ext cx="3383280" cy="1097280"/>
          </a:xfrm>
          <a:prstGeom prst="roundRect">
            <a:avLst>
              <a:gd name="adj" fmla="val 6667"/>
            </a:avLst>
          </a:prstGeom>
          <a:solidFill>
            <a:srgbClr val="162028"/>
          </a:solidFill>
          <a:ln w="6350">
            <a:solidFill>
              <a:srgbClr val="2A3540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8412480" y="2286000"/>
            <a:ext cx="3108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0A95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→ 41</a:t>
            </a:r>
            <a:endParaRPr lang="en-US" sz="2800" dirty="0"/>
          </a:p>
        </p:txBody>
      </p:sp>
      <p:sp>
        <p:nvSpPr>
          <p:cNvPr id="7" name="Text 4"/>
          <p:cNvSpPr/>
          <p:nvPr/>
        </p:nvSpPr>
        <p:spPr>
          <a:xfrm>
            <a:off x="8412480" y="2788920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E8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sections per case in this cohort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8229600" y="3429000"/>
            <a:ext cx="3383280" cy="1097280"/>
          </a:xfrm>
          <a:prstGeom prst="roundRect">
            <a:avLst>
              <a:gd name="adj" fmla="val 6667"/>
            </a:avLst>
          </a:prstGeom>
          <a:solidFill>
            <a:srgbClr val="162028"/>
          </a:solidFill>
          <a:ln w="6350">
            <a:solidFill>
              <a:srgbClr val="2A354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412480" y="3520440"/>
            <a:ext cx="3108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0A95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≥13</a:t>
            </a:r>
            <a:endParaRPr lang="en-US" sz="2800" dirty="0"/>
          </a:p>
        </p:txBody>
      </p:sp>
      <p:sp>
        <p:nvSpPr>
          <p:cNvPr id="10" name="Text 7"/>
          <p:cNvSpPr/>
          <p:nvPr/>
        </p:nvSpPr>
        <p:spPr>
          <a:xfrm>
            <a:off x="8412480" y="4023360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E8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MBS 31002 cut-off · longest cases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8229600" y="4663440"/>
            <a:ext cx="3383280" cy="1097280"/>
          </a:xfrm>
          <a:prstGeom prst="roundRect">
            <a:avLst>
              <a:gd name="adj" fmla="val 6667"/>
            </a:avLst>
          </a:prstGeom>
          <a:solidFill>
            <a:srgbClr val="162028"/>
          </a:solidFill>
          <a:ln w="6350">
            <a:solidFill>
              <a:srgbClr val="2A354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412480" y="4754880"/>
            <a:ext cx="3108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0A95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47.8%</a:t>
            </a:r>
            <a:endParaRPr lang="en-US" sz="2800" dirty="0"/>
          </a:p>
        </p:txBody>
      </p:sp>
      <p:sp>
        <p:nvSpPr>
          <p:cNvPr id="13" name="Text 10"/>
          <p:cNvSpPr/>
          <p:nvPr/>
        </p:nvSpPr>
        <p:spPr>
          <a:xfrm>
            <a:off x="8412480" y="5257800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E8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cases needed ≥13 sections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645920" cy="292608"/>
          </a:xfrm>
          <a:prstGeom prst="rect">
            <a:avLst>
              <a:gd name="adj" fmla="val 12500"/>
            </a:avLst>
          </a:prstGeom>
          <a:solidFill>
            <a:srgbClr val="162028"/>
          </a:solidFill>
          <a:ln w="9525">
            <a:solidFill>
              <a:srgbClr val="3FC1CB"/>
            </a:solidFill>
          </a:ln>
        </p:spPr>
        <p:txBody>
          <a:bodyPr wrap="square" lIns="1016" tIns="1016" rIns="1016" bIns="1016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FC1C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COHORT &amp; METHODS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" y="100584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4F8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408 consecutive Mohs procedures · pre-operative features only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2606040" cy="1188720"/>
          </a:xfrm>
          <a:prstGeom prst="roundRect">
            <a:avLst>
              <a:gd name="adj" fmla="val 6154"/>
            </a:avLst>
          </a:prstGeom>
          <a:solidFill>
            <a:srgbClr val="162028"/>
          </a:solidFill>
          <a:ln w="6350">
            <a:solidFill>
              <a:srgbClr val="2A354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920240"/>
            <a:ext cx="2377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FC1C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408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822960" y="251460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E8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consecutive procedures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429000" y="1828800"/>
            <a:ext cx="2606040" cy="1188720"/>
          </a:xfrm>
          <a:prstGeom prst="roundRect">
            <a:avLst>
              <a:gd name="adj" fmla="val 6154"/>
            </a:avLst>
          </a:prstGeom>
          <a:solidFill>
            <a:srgbClr val="162028"/>
          </a:solidFill>
          <a:ln w="6350">
            <a:solidFill>
              <a:srgbClr val="2A354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11880" y="1920240"/>
            <a:ext cx="2377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FC1C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16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3611880" y="251460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E8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pre-operative variables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217920" y="1828800"/>
            <a:ext cx="2606040" cy="1188720"/>
          </a:xfrm>
          <a:prstGeom prst="roundRect">
            <a:avLst>
              <a:gd name="adj" fmla="val 6154"/>
            </a:avLst>
          </a:prstGeom>
          <a:solidFill>
            <a:srgbClr val="162028"/>
          </a:solidFill>
          <a:ln w="6350">
            <a:solidFill>
              <a:srgbClr val="2A354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0" y="1920240"/>
            <a:ext cx="2377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FC1C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30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6400800" y="251460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E8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algorithms tested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9006840" y="1828800"/>
            <a:ext cx="2606040" cy="1188720"/>
          </a:xfrm>
          <a:prstGeom prst="roundRect">
            <a:avLst>
              <a:gd name="adj" fmla="val 6154"/>
            </a:avLst>
          </a:prstGeom>
          <a:solidFill>
            <a:srgbClr val="162028"/>
          </a:solidFill>
          <a:ln w="6350">
            <a:solidFill>
              <a:srgbClr val="2A354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189720" y="1920240"/>
            <a:ext cx="2377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FC1C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80 / 20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9189720" y="251460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E8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· test split, 5-fold CV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40080" y="33832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7E8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Cohort highlights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40080" y="379476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4F8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age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200400" y="379476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F4F8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68.5 ± 12.9 yrs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40080" y="416052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4F8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Male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3200400" y="416052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F4F8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57.8%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40080" y="452628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4F8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BCC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3200400" y="452628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F4F8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89.9%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40080" y="489204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4F8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 &amp; neck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3200400" y="489204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F4F8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93.4%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492240" y="33832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7E8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Predictors used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6492240" y="3794760"/>
            <a:ext cx="512064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3FC1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Demographics </a:t>
            </a:r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F4F8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(age, sex, smoking)
</a:t>
            </a:r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3FC1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Tumour </a:t>
            </a:r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F4F8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(size X, Y, area, type, recurrence, aggressive histo)
</a:t>
            </a:r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3FC1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Anatomy </a:t>
            </a:r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F4F8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(body site, zone, unit, laterality)
</a:t>
            </a:r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3FC1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Surgeon </a:t>
            </a:r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F4F8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(experience, see-and-do)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645920" cy="292608"/>
          </a:xfrm>
          <a:prstGeom prst="rect">
            <a:avLst>
              <a:gd name="adj" fmla="val 12500"/>
            </a:avLst>
          </a:prstGeom>
          <a:solidFill>
            <a:srgbClr val="162028"/>
          </a:solidFill>
          <a:ln w="9525">
            <a:solidFill>
              <a:srgbClr val="E0A95B"/>
            </a:solidFill>
          </a:ln>
        </p:spPr>
        <p:txBody>
          <a:bodyPr wrap="square" lIns="1016" tIns="1016" rIns="1016" bIns="1016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E0A95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HEADLINE RESULT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" y="137160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spc="200" kern="0" dirty="0">
                <a:solidFill>
                  <a:srgbClr val="7E8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CV-AUC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0" b="1" dirty="0">
                <a:solidFill>
                  <a:srgbClr val="3FC1C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0.891</a:t>
            </a:r>
            <a:endParaRPr lang="en-US" sz="28000" dirty="0"/>
          </a:p>
        </p:txBody>
      </p:sp>
      <p:sp>
        <p:nvSpPr>
          <p:cNvPr id="5" name="Text 3"/>
          <p:cNvSpPr/>
          <p:nvPr/>
        </p:nvSpPr>
        <p:spPr>
          <a:xfrm>
            <a:off x="640080" y="521208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4F8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95% CI 0.849 – 0.934 · stacking ensemble · n = 408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40080" y="56235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E8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Test-AUC 0.884 · F1 0.81 · 30 algorithms compared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645920" cy="292608"/>
          </a:xfrm>
          <a:prstGeom prst="rect">
            <a:avLst>
              <a:gd name="adj" fmla="val 12500"/>
            </a:avLst>
          </a:prstGeom>
          <a:solidFill>
            <a:srgbClr val="162028"/>
          </a:solidFill>
          <a:ln w="9525">
            <a:solidFill>
              <a:srgbClr val="3FC1CB"/>
            </a:solidFill>
          </a:ln>
        </p:spPr>
        <p:txBody>
          <a:bodyPr wrap="square" lIns="1016" tIns="1016" rIns="1016" bIns="1016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FC1C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WHY THE MODEL DECIDES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" y="100584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4F8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Tumour area dominates every other feature</a:t>
            </a:r>
            <a:endParaRPr lang="en-US" sz="2600" dirty="0"/>
          </a:p>
        </p:txBody>
      </p:sp>
      <p:pic>
        <p:nvPicPr>
          <p:cNvPr id="4" name="Image 0" descr="C:\Users\aksoy\My Drive\Projects\Entrepreneurship\PanaceAI\PC - Showroom\Apps\MOHS-AI\mohs-ai\slides\figures\shap_importanc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783080"/>
            <a:ext cx="7315200" cy="41148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8229600" y="1828800"/>
            <a:ext cx="3474720" cy="1188720"/>
          </a:xfrm>
          <a:prstGeom prst="roundRect">
            <a:avLst>
              <a:gd name="adj" fmla="val 6154"/>
            </a:avLst>
          </a:prstGeom>
          <a:solidFill>
            <a:srgbClr val="162028"/>
          </a:solidFill>
          <a:ln w="6350">
            <a:solidFill>
              <a:srgbClr val="2A3540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8412480" y="192024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0A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Area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8412480" y="2286000"/>
            <a:ext cx="3200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4F8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nearly as informative as the next two combined.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8229600" y="3154680"/>
            <a:ext cx="3474720" cy="1188720"/>
          </a:xfrm>
          <a:prstGeom prst="roundRect">
            <a:avLst>
              <a:gd name="adj" fmla="val 6154"/>
            </a:avLst>
          </a:prstGeom>
          <a:solidFill>
            <a:srgbClr val="162028"/>
          </a:solidFill>
          <a:ln w="6350">
            <a:solidFill>
              <a:srgbClr val="2A354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412480" y="324612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0A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Recurrence + aggressive histo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8412480" y="3611880"/>
            <a:ext cx="3200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4F8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the next clinically actionable signals.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8229600" y="4480560"/>
            <a:ext cx="3474720" cy="1188720"/>
          </a:xfrm>
          <a:prstGeom prst="roundRect">
            <a:avLst>
              <a:gd name="adj" fmla="val 6154"/>
            </a:avLst>
          </a:prstGeom>
          <a:solidFill>
            <a:srgbClr val="162028"/>
          </a:solidFill>
          <a:ln w="6350">
            <a:solidFill>
              <a:srgbClr val="2A354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412480" y="457200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0A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Surgeon experience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8412480" y="4937760"/>
            <a:ext cx="3200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4F8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did not contribute meaningfully — likely selection bias.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645920" cy="292608"/>
          </a:xfrm>
          <a:prstGeom prst="rect">
            <a:avLst>
              <a:gd name="adj" fmla="val 12500"/>
            </a:avLst>
          </a:prstGeom>
          <a:solidFill>
            <a:srgbClr val="162028"/>
          </a:solidFill>
          <a:ln w="9525">
            <a:solidFill>
              <a:srgbClr val="E0A95B"/>
            </a:solidFill>
          </a:ln>
        </p:spPr>
        <p:txBody>
          <a:bodyPr wrap="square" lIns="1016" tIns="1016" rIns="1016" bIns="1016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E0A95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CLINICAL TAKE-AWAY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" y="1005840"/>
            <a:ext cx="109728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4F8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Above </a:t>
            </a:r>
            <a:pPr indent="0" marL="0">
              <a:buNone/>
            </a:pPr>
            <a:r>
              <a:rPr lang="en-US" sz="2600" b="1" dirty="0">
                <a:solidFill>
                  <a:srgbClr val="E0A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~1.5 cm²</a:t>
            </a:r>
            <a:pPr indent="0" marL="0">
              <a:buNone/>
            </a:pPr>
            <a:r>
              <a:rPr lang="en-US" sz="2600" b="1" dirty="0">
                <a:solidFill>
                  <a:srgbClr val="F4F8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ellipse area, probability of ≥13 sections climbs steeply.</a:t>
            </a:r>
            <a:endParaRPr lang="en-US" sz="2600" dirty="0"/>
          </a:p>
        </p:txBody>
      </p:sp>
      <p:pic>
        <p:nvPicPr>
          <p:cNvPr id="4" name="Image 0" descr="C:\Users\aksoy\My Drive\Projects\Entrepreneurship\PanaceAI\PC - Showroom\Apps\MOHS-AI\mohs-ai\slides\figures\dependence_threshol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2377440"/>
            <a:ext cx="8686800" cy="36576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9601200" y="2377440"/>
            <a:ext cx="2194560" cy="1463040"/>
          </a:xfrm>
          <a:prstGeom prst="roundRect">
            <a:avLst>
              <a:gd name="adj" fmla="val 5000"/>
            </a:avLst>
          </a:prstGeom>
          <a:solidFill>
            <a:srgbClr val="162028"/>
          </a:solidFill>
          <a:ln w="9525">
            <a:solidFill>
              <a:srgbClr val="E0A95B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9692640" y="2468880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E8B9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Ellipse area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7E8B9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 π × (X/2) × (Y/2)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9692640" y="3108960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0A95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e.g. 18 × 12 mm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E0A95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1.70 cm²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9601200" y="4023360"/>
            <a:ext cx="21945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4F8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practical rule clinicians can use at first consultation, before any imaging or biopsy results return.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645920" cy="292608"/>
          </a:xfrm>
          <a:prstGeom prst="rect">
            <a:avLst>
              <a:gd name="adj" fmla="val 12500"/>
            </a:avLst>
          </a:prstGeom>
          <a:solidFill>
            <a:srgbClr val="162028"/>
          </a:solidFill>
          <a:ln w="9525">
            <a:solidFill>
              <a:srgbClr val="E37962"/>
            </a:solidFill>
          </a:ln>
        </p:spPr>
        <p:txBody>
          <a:bodyPr wrap="square" lIns="1016" tIns="1016" rIns="1016" bIns="1016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E3796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THE COUNTER-INTUITIVE FINDING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" y="100584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4F8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H-zone is anatomically high-risk — yet needs </a:t>
            </a:r>
            <a:pPr indent="0" marL="0">
              <a:buNone/>
            </a:pPr>
            <a:r>
              <a:rPr lang="en-US" sz="2400" b="1" i="1" dirty="0">
                <a:solidFill>
                  <a:srgbClr val="E379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fewer</a:t>
            </a:r>
            <a:pPr indent="0" marL="0">
              <a:buNone/>
            </a:pPr>
            <a:r>
              <a:rPr lang="en-US" sz="2400" b="1" dirty="0">
                <a:solidFill>
                  <a:srgbClr val="F4F8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sections than L-zone.</a:t>
            </a:r>
            <a:endParaRPr lang="en-US" sz="2400" dirty="0"/>
          </a:p>
        </p:txBody>
      </p:sp>
      <p:pic>
        <p:nvPicPr>
          <p:cNvPr id="4" name="Image 0" descr="C:\Users\aksoy\My Drive\Projects\Entrepreneurship\PanaceAI\PC - Showroom\Apps\MOHS-AI\mohs-ai\slides\figures\hzone_scatt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2011680"/>
            <a:ext cx="7315200" cy="402336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8229600" y="2103120"/>
            <a:ext cx="3474720" cy="1188720"/>
          </a:xfrm>
          <a:prstGeom prst="roundRect">
            <a:avLst>
              <a:gd name="adj" fmla="val 6154"/>
            </a:avLst>
          </a:prstGeom>
          <a:solidFill>
            <a:srgbClr val="162028"/>
          </a:solidFill>
          <a:ln w="9525">
            <a:solidFill>
              <a:srgbClr val="3FC1CB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8412480" y="219456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FC1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H-zone  n=291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8412480" y="251460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F8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9.0  sections  ·  42% ≥13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8412480" y="288036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E8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tumour 2.12 cm²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8229600" y="3429000"/>
            <a:ext cx="3474720" cy="1188720"/>
          </a:xfrm>
          <a:prstGeom prst="roundRect">
            <a:avLst>
              <a:gd name="adj" fmla="val 6154"/>
            </a:avLst>
          </a:prstGeom>
          <a:solidFill>
            <a:srgbClr val="162028"/>
          </a:solidFill>
          <a:ln w="9525">
            <a:solidFill>
              <a:srgbClr val="E0A95B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412480" y="352044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0A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M-zone  n=100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8412480" y="384048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F8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11.5  sections  ·  59% ≥13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8412480" y="420624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E8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tumour 4.80 cm²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8229600" y="4754880"/>
            <a:ext cx="3474720" cy="1188720"/>
          </a:xfrm>
          <a:prstGeom prst="roundRect">
            <a:avLst>
              <a:gd name="adj" fmla="val 6154"/>
            </a:avLst>
          </a:prstGeom>
          <a:solidFill>
            <a:srgbClr val="162028"/>
          </a:solidFill>
          <a:ln w="9525">
            <a:solidFill>
              <a:srgbClr val="E37962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412480" y="484632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379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L-zone  n=17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8412480" y="516636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F8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15.7  sections  ·  89% ≥13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8412480" y="553212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E8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tumour 12.55 cm²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645920" cy="292608"/>
          </a:xfrm>
          <a:prstGeom prst="rect">
            <a:avLst>
              <a:gd name="adj" fmla="val 12500"/>
            </a:avLst>
          </a:prstGeom>
          <a:solidFill>
            <a:srgbClr val="162028"/>
          </a:solidFill>
          <a:ln w="9525">
            <a:solidFill>
              <a:srgbClr val="3FC1CB"/>
            </a:solidFill>
          </a:ln>
        </p:spPr>
        <p:txBody>
          <a:bodyPr wrap="square" lIns="1016" tIns="1016" rIns="1016" bIns="1016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FC1C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EXPLAINING THE PARADOX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" y="100584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4F8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Sections per stage tell us what's really happening.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640080" y="2011680"/>
            <a:ext cx="3566160" cy="2468880"/>
          </a:xfrm>
          <a:prstGeom prst="roundRect">
            <a:avLst>
              <a:gd name="adj" fmla="val 2963"/>
            </a:avLst>
          </a:prstGeom>
          <a:solidFill>
            <a:srgbClr val="162028"/>
          </a:solidFill>
          <a:ln w="9525">
            <a:solidFill>
              <a:srgbClr val="3FC1C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2194560"/>
            <a:ext cx="32004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600" b="1" dirty="0">
                <a:solidFill>
                  <a:srgbClr val="3FC1C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3.0</a:t>
            </a:r>
            <a:endParaRPr lang="en-US" sz="9600" dirty="0"/>
          </a:p>
        </p:txBody>
      </p:sp>
      <p:sp>
        <p:nvSpPr>
          <p:cNvPr id="6" name="Text 4"/>
          <p:cNvSpPr/>
          <p:nvPr/>
        </p:nvSpPr>
        <p:spPr>
          <a:xfrm>
            <a:off x="822960" y="3657600"/>
            <a:ext cx="3200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spc="100" kern="0" dirty="0">
                <a:solidFill>
                  <a:srgbClr val="7E8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H-zone sections / stage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480560" y="2011680"/>
            <a:ext cx="3566160" cy="2468880"/>
          </a:xfrm>
          <a:prstGeom prst="roundRect">
            <a:avLst>
              <a:gd name="adj" fmla="val 2963"/>
            </a:avLst>
          </a:prstGeom>
          <a:solidFill>
            <a:srgbClr val="162028"/>
          </a:solidFill>
          <a:ln w="9525">
            <a:solidFill>
              <a:srgbClr val="E3796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663440" y="2194560"/>
            <a:ext cx="32004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600" b="1" dirty="0">
                <a:solidFill>
                  <a:srgbClr val="E3796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8.6</a:t>
            </a:r>
            <a:endParaRPr lang="en-US" sz="9600" dirty="0"/>
          </a:p>
        </p:txBody>
      </p:sp>
      <p:sp>
        <p:nvSpPr>
          <p:cNvPr id="9" name="Text 7"/>
          <p:cNvSpPr/>
          <p:nvPr/>
        </p:nvSpPr>
        <p:spPr>
          <a:xfrm>
            <a:off x="4663440" y="3657600"/>
            <a:ext cx="3200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spc="100" kern="0" dirty="0">
                <a:solidFill>
                  <a:srgbClr val="7E8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L-zone sections / stage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40080" y="466344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4F8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Surgeons take smaller, more conservative slices on cosmetically sensitive territory </a:t>
            </a:r>
            <a:pPr indent="0" marL="0">
              <a:buNone/>
            </a:pPr>
            <a:r>
              <a:rPr lang="en-US" sz="1400" i="1" dirty="0">
                <a:solidFill>
                  <a:srgbClr val="7E8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(stages did not differ by zone, p = 0.11).</a:t>
            </a:r>
            <a:endParaRPr lang="en-US" sz="1400" dirty="0"/>
          </a:p>
        </p:txBody>
      </p:sp>
      <p:pic>
        <p:nvPicPr>
          <p:cNvPr id="11" name="Image 0" descr="C:\Users\aksoy\My Drive\Projects\Entrepreneurship\PanaceAI\PC - Showroom\Apps\MOHS-AI\mohs-ai\slides\figures\confidence_donu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12480" y="1828800"/>
            <a:ext cx="3200400" cy="310896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8229600" y="5029200"/>
            <a:ext cx="3566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0A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70.7% high-confidence cases
</a:t>
            </a:r>
            <a:pPr algn="ctr" indent="0" marL="0">
              <a:buNone/>
            </a:pPr>
            <a:r>
              <a:rPr lang="en-US" sz="1200" dirty="0">
                <a:solidFill>
                  <a:srgbClr val="F4F8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91.4% accuracy on those.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1418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19456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F4F8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let's open the tool.</a:t>
            </a:r>
            <a:endParaRPr lang="en-US" sz="5600" dirty="0"/>
          </a:p>
        </p:txBody>
      </p:sp>
      <p:sp>
        <p:nvSpPr>
          <p:cNvPr id="4" name="Text 2"/>
          <p:cNvSpPr/>
          <p:nvPr/>
        </p:nvSpPr>
        <p:spPr>
          <a:xfrm>
            <a:off x="640080" y="347472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3FC1C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mohs.panacea-i.com</a:t>
            </a:r>
            <a:endParaRPr lang="en-US" sz="6400" dirty="0"/>
          </a:p>
        </p:txBody>
      </p:sp>
      <p:sp>
        <p:nvSpPr>
          <p:cNvPr id="5" name="Text 3"/>
          <p:cNvSpPr/>
          <p:nvPr/>
        </p:nvSpPr>
        <p:spPr>
          <a:xfrm>
            <a:off x="640080" y="45720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7E8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ensemble · per-model breakdown · threshold visual · MBS billing · OR scheduler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645920" cy="292608"/>
          </a:xfrm>
          <a:prstGeom prst="rect">
            <a:avLst>
              <a:gd name="adj" fmla="val 12500"/>
            </a:avLst>
          </a:prstGeom>
          <a:solidFill>
            <a:srgbClr val="162028"/>
          </a:solidFill>
          <a:ln w="9525">
            <a:solidFill>
              <a:srgbClr val="7E8B95"/>
            </a:solidFill>
          </a:ln>
        </p:spPr>
        <p:txBody>
          <a:bodyPr wrap="square" lIns="1016" tIns="1016" rIns="1016" bIns="1016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E8B9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BACKUP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" y="100584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4F8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Backup · Predictor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10881360" cy="4206240"/>
          </a:xfrm>
          <a:prstGeom prst="roundRect">
            <a:avLst>
              <a:gd name="adj" fmla="val 1739"/>
            </a:avLst>
          </a:prstGeom>
          <a:solidFill>
            <a:srgbClr val="162028"/>
          </a:solidFill>
          <a:ln w="6350">
            <a:solidFill>
              <a:srgbClr val="2A354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3108960"/>
            <a:ext cx="108813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7E8B9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Insert screenshot of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i="1" dirty="0">
                <a:solidFill>
                  <a:srgbClr val="7E8B9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mohs.panacea-i.com/predictor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40080" y="61264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E8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Probability ring with 95% CI band · ensemble breakdown · per-feature factor bars · MBS code preview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645920" cy="292608"/>
          </a:xfrm>
          <a:prstGeom prst="rect">
            <a:avLst>
              <a:gd name="adj" fmla="val 12500"/>
            </a:avLst>
          </a:prstGeom>
          <a:solidFill>
            <a:srgbClr val="162028"/>
          </a:solidFill>
          <a:ln w="9525">
            <a:solidFill>
              <a:srgbClr val="7E8B95"/>
            </a:solidFill>
          </a:ln>
        </p:spPr>
        <p:txBody>
          <a:bodyPr wrap="square" lIns="1016" tIns="1016" rIns="1016" bIns="1016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E8B9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BACKUP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" y="100584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4F8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Backup · Why / SHAP dependence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10881360" cy="4206240"/>
          </a:xfrm>
          <a:prstGeom prst="roundRect">
            <a:avLst>
              <a:gd name="adj" fmla="val 1739"/>
            </a:avLst>
          </a:prstGeom>
          <a:solidFill>
            <a:srgbClr val="162028"/>
          </a:solidFill>
          <a:ln w="6350">
            <a:solidFill>
              <a:srgbClr val="2A354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3108960"/>
            <a:ext cx="108813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7E8B9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Insert screenshot of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i="1" dirty="0">
                <a:solidFill>
                  <a:srgbClr val="7E8B9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mohs.panacea-i.com/why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40080" y="61264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E8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tumour-area sweep with 1.5 cm² annotation · per-case waterfall from cohort baseline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645920" cy="292608"/>
          </a:xfrm>
          <a:prstGeom prst="rect">
            <a:avLst>
              <a:gd name="adj" fmla="val 12500"/>
            </a:avLst>
          </a:prstGeom>
          <a:solidFill>
            <a:srgbClr val="162028"/>
          </a:solidFill>
          <a:ln w="9525">
            <a:solidFill>
              <a:srgbClr val="7E8B95"/>
            </a:solidFill>
          </a:ln>
        </p:spPr>
        <p:txBody>
          <a:bodyPr wrap="square" lIns="1016" tIns="1016" rIns="1016" bIns="1016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E8B9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BACKUP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" y="100584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4F8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Backup · H-zone paradox explorer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10881360" cy="4206240"/>
          </a:xfrm>
          <a:prstGeom prst="roundRect">
            <a:avLst>
              <a:gd name="adj" fmla="val 1739"/>
            </a:avLst>
          </a:prstGeom>
          <a:solidFill>
            <a:srgbClr val="162028"/>
          </a:solidFill>
          <a:ln w="6350">
            <a:solidFill>
              <a:srgbClr val="2A354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3108960"/>
            <a:ext cx="108813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7E8B9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Insert screenshot of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i="1" dirty="0">
                <a:solidFill>
                  <a:srgbClr val="7E8B9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mohs.panacea-i.com/zones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40080" y="61264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E8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Toggle between mean sections and mean tumour area — bars flip · interactive scatter of all 408 cases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645920" cy="292608"/>
          </a:xfrm>
          <a:prstGeom prst="rect">
            <a:avLst>
              <a:gd name="adj" fmla="val 12500"/>
            </a:avLst>
          </a:prstGeom>
          <a:solidFill>
            <a:srgbClr val="162028"/>
          </a:solidFill>
          <a:ln w="9525">
            <a:solidFill>
              <a:srgbClr val="7E8B95"/>
            </a:solidFill>
          </a:ln>
        </p:spPr>
        <p:txBody>
          <a:bodyPr wrap="square" lIns="1016" tIns="1016" rIns="1016" bIns="1016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E8B9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BACKUP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" y="100584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4F8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Backup · Clinical tools — day scheduler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10881360" cy="4206240"/>
          </a:xfrm>
          <a:prstGeom prst="roundRect">
            <a:avLst>
              <a:gd name="adj" fmla="val 1739"/>
            </a:avLst>
          </a:prstGeom>
          <a:solidFill>
            <a:srgbClr val="162028"/>
          </a:solidFill>
          <a:ln w="6350">
            <a:solidFill>
              <a:srgbClr val="2A354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3108960"/>
            <a:ext cx="108813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7E8B9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Insert screenshot of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i="1" dirty="0">
                <a:solidFill>
                  <a:srgbClr val="7E8B9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mohs.panacea-i.com/tools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40080" y="61264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E8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Multi-room Mohs day Gantt with patient names, arrival times, lunch break, CSV export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645920" cy="292608"/>
          </a:xfrm>
          <a:prstGeom prst="rect">
            <a:avLst>
              <a:gd name="adj" fmla="val 12500"/>
            </a:avLst>
          </a:prstGeom>
          <a:solidFill>
            <a:srgbClr val="162028"/>
          </a:solidFill>
          <a:ln w="9525">
            <a:solidFill>
              <a:srgbClr val="7E8B95"/>
            </a:solidFill>
          </a:ln>
        </p:spPr>
        <p:txBody>
          <a:bodyPr wrap="square" lIns="1016" tIns="1016" rIns="1016" bIns="1016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E8B9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BACKUP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" y="100584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4F8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Backup · Evidence — 30-model leaderboard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10881360" cy="4206240"/>
          </a:xfrm>
          <a:prstGeom prst="roundRect">
            <a:avLst>
              <a:gd name="adj" fmla="val 1739"/>
            </a:avLst>
          </a:prstGeom>
          <a:solidFill>
            <a:srgbClr val="162028"/>
          </a:solidFill>
          <a:ln w="6350">
            <a:solidFill>
              <a:srgbClr val="2A354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3108960"/>
            <a:ext cx="108813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7E8B9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Insert screenshot of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i="1" dirty="0">
                <a:solidFill>
                  <a:srgbClr val="7E8B9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mohs.panacea-i.com/evidence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40080" y="61264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E8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 by family · sort by CV-AUC, Test-AUC, F1, Brier · stacking ensemble tops the table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645920" cy="292608"/>
          </a:xfrm>
          <a:prstGeom prst="rect">
            <a:avLst>
              <a:gd name="adj" fmla="val 12500"/>
            </a:avLst>
          </a:prstGeom>
          <a:solidFill>
            <a:srgbClr val="162028"/>
          </a:solidFill>
          <a:ln w="9525">
            <a:solidFill>
              <a:srgbClr val="3FC1CB"/>
            </a:solidFill>
          </a:ln>
        </p:spPr>
        <p:txBody>
          <a:bodyPr wrap="square" lIns="1016" tIns="1016" rIns="1016" bIns="1016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FC1C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LIMITATIONS &amp; CONCLUSIONS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" y="100584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4F8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sentences to take home.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731520" y="1920240"/>
            <a:ext cx="7315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E0A95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6400" dirty="0"/>
          </a:p>
        </p:txBody>
      </p:sp>
      <p:sp>
        <p:nvSpPr>
          <p:cNvPr id="5" name="Text 3"/>
          <p:cNvSpPr/>
          <p:nvPr/>
        </p:nvSpPr>
        <p:spPr>
          <a:xfrm>
            <a:off x="1554480" y="1965960"/>
            <a:ext cx="10058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4F8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Pre-operative ML predicts ≥13 sections at AUC 0.89.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554480" y="251460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E8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only features any clinician already records at first consultation.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31520" y="3246120"/>
            <a:ext cx="7315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E0A95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1554480" y="3291840"/>
            <a:ext cx="10058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4F8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Tumour area is the dominant predictor.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554480" y="384048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E8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threshold near 1.5 cm² ellipse area.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31520" y="4572000"/>
            <a:ext cx="7315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E0A95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6400" dirty="0"/>
          </a:p>
        </p:txBody>
      </p:sp>
      <p:sp>
        <p:nvSpPr>
          <p:cNvPr id="11" name="Text 9"/>
          <p:cNvSpPr/>
          <p:nvPr/>
        </p:nvSpPr>
        <p:spPr>
          <a:xfrm>
            <a:off x="1554480" y="4617720"/>
            <a:ext cx="10058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4F8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Anatomical risk-zone label is not destiny.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554480" y="516636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E8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Size drives sections, not 'H' vs 'L'. Pattern needs external validation.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40080" y="585216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E8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 · </a:t>
            </a:r>
            <a:pPr indent="0" marL="0">
              <a:buNone/>
            </a:pPr>
            <a:r>
              <a:rPr lang="en-US" sz="1200" dirty="0">
                <a:solidFill>
                  <a:srgbClr val="7E8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single-centre · L-zone n = 17 · external validation pending — collaborators welcome.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1418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18288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F4F8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you.</a:t>
            </a:r>
            <a:endParaRPr lang="en-US" sz="6400" dirty="0"/>
          </a:p>
        </p:txBody>
      </p:sp>
      <p:sp>
        <p:nvSpPr>
          <p:cNvPr id="4" name="Text 2"/>
          <p:cNvSpPr/>
          <p:nvPr/>
        </p:nvSpPr>
        <p:spPr>
          <a:xfrm>
            <a:off x="640080" y="310896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3FC1C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mohs.panacea-i.com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640080" y="4297680"/>
            <a:ext cx="10972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4F8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to test · open to collaborate.
</a:t>
            </a:r>
            <a:pPr indent="0" marL="0">
              <a:buNone/>
            </a:pPr>
            <a:r>
              <a:rPr lang="en-US" sz="1800" dirty="0">
                <a:solidFill>
                  <a:srgbClr val="7E8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validation invitation: </a:t>
            </a:r>
            <a:pPr indent="0" marL="0">
              <a:buNone/>
            </a:pPr>
            <a:r>
              <a:rPr lang="en-US" sz="1800" i="1" dirty="0">
                <a:solidFill>
                  <a:srgbClr val="E0A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your-email@your-domain.com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40080" y="585216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7E8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Aksoy, Lee, Moreno-Bonilla. Development and Validation of Machine Learning Models for Predicting 13 or More Sections in Mohs Micrographic Surgery. 2026.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MOHS AI — Predicting ≥13 sections in Mohs surgery</dc:title>
  <dc:subject>PptxGenJS Presentation</dc:subject>
  <dc:creator>Aksoy, Lee, Moreno-Bonilla</dc:creator>
  <cp:lastModifiedBy>Aksoy, Lee, Moreno-Bonilla</cp:lastModifiedBy>
  <cp:revision>1</cp:revision>
  <dcterms:created xsi:type="dcterms:W3CDTF">2026-04-27T05:31:26Z</dcterms:created>
  <dcterms:modified xsi:type="dcterms:W3CDTF">2026-04-27T05:31:26Z</dcterms:modified>
</cp:coreProperties>
</file>